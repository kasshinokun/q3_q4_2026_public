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mbria Bold" charset="1" panose="02040803050406030204"/>
      <p:regular r:id="rId17"/>
    </p:embeddedFont>
    <p:embeddedFont>
      <p:font typeface="Cambria Italics" charset="1" panose="020405030504060A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 Bold" charset="1" panose="020F07020304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3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51" t="-13183" r="0" b="-1084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7280" y="2047875"/>
            <a:ext cx="10752292" cy="326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1"/>
              </a:lnSpc>
            </a:pPr>
            <a:r>
              <a:rPr lang="en-US" b="true" sz="7426">
                <a:solidFill>
                  <a:srgbClr val="F2AFBC"/>
                </a:solidFill>
                <a:latin typeface="Cambria Bold"/>
                <a:ea typeface="Cambria Bold"/>
                <a:cs typeface="Cambria Bold"/>
                <a:sym typeface="Cambria Bold"/>
              </a:rPr>
              <a:t>PetCuida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08645" y="2596515"/>
            <a:ext cx="10149840" cy="3883263"/>
            <a:chOff x="0" y="0"/>
            <a:chExt cx="13533120" cy="51776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33120" cy="5177684"/>
            </a:xfrm>
            <a:custGeom>
              <a:avLst/>
              <a:gdLst/>
              <a:ahLst/>
              <a:cxnLst/>
              <a:rect r="r" b="b" t="t" l="l"/>
              <a:pathLst>
                <a:path h="5177684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177684"/>
                  </a:lnTo>
                  <a:lnTo>
                    <a:pt x="0" y="5177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0" r="0" b="3494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3533120" cy="5187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59"/>
                </a:lnSpc>
              </a:pPr>
              <a:r>
                <a:rPr lang="en-US" sz="5299" i="true">
                  <a:solidFill>
                    <a:srgbClr val="516A97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Cuidar antes que vire emergência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9052560"/>
            <a:ext cx="12344400" cy="548640"/>
            <a:chOff x="0" y="0"/>
            <a:chExt cx="16459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Tópicos III — Empreendedorismo e Inovação · Atividade XII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97715" y="1773555"/>
            <a:ext cx="5505450" cy="5505450"/>
            <a:chOff x="0" y="0"/>
            <a:chExt cx="7340600" cy="7340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40600" cy="7340600"/>
            </a:xfrm>
            <a:custGeom>
              <a:avLst/>
              <a:gdLst/>
              <a:ahLst/>
              <a:cxnLst/>
              <a:rect r="r" b="b" t="t" l="l"/>
              <a:pathLst>
                <a:path h="7340600" w="7340600">
                  <a:moveTo>
                    <a:pt x="0" y="3670300"/>
                  </a:moveTo>
                  <a:cubicBezTo>
                    <a:pt x="0" y="1643253"/>
                    <a:pt x="1643253" y="0"/>
                    <a:pt x="3670300" y="0"/>
                  </a:cubicBezTo>
                  <a:cubicBezTo>
                    <a:pt x="5697347" y="0"/>
                    <a:pt x="7340600" y="1643253"/>
                    <a:pt x="7340600" y="3670300"/>
                  </a:cubicBezTo>
                  <a:cubicBezTo>
                    <a:pt x="7340600" y="5697347"/>
                    <a:pt x="5697347" y="7340600"/>
                    <a:pt x="3670300" y="7340600"/>
                  </a:cubicBezTo>
                  <a:cubicBezTo>
                    <a:pt x="1643253" y="7340600"/>
                    <a:pt x="0" y="5697347"/>
                    <a:pt x="0" y="3670300"/>
                  </a:cubicBezTo>
                  <a:close/>
                </a:path>
              </a:pathLst>
            </a:custGeom>
            <a:solidFill>
              <a:srgbClr val="4F6996"/>
            </a:solidFill>
            <a:ln w="19050" cap="sq">
              <a:solidFill>
                <a:srgbClr val="2A9D8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20675" y="2596515"/>
            <a:ext cx="3859530" cy="3859530"/>
            <a:chOff x="0" y="0"/>
            <a:chExt cx="5146040" cy="5146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46040" cy="5146040"/>
            </a:xfrm>
            <a:custGeom>
              <a:avLst/>
              <a:gdLst/>
              <a:ahLst/>
              <a:cxnLst/>
              <a:rect r="r" b="b" t="t" l="l"/>
              <a:pathLst>
                <a:path h="5146040" w="5146040">
                  <a:moveTo>
                    <a:pt x="0" y="2573020"/>
                  </a:moveTo>
                  <a:cubicBezTo>
                    <a:pt x="0" y="1152017"/>
                    <a:pt x="1152017" y="0"/>
                    <a:pt x="2573020" y="0"/>
                  </a:cubicBezTo>
                  <a:cubicBezTo>
                    <a:pt x="3994023" y="0"/>
                    <a:pt x="5146040" y="1152017"/>
                    <a:pt x="5146040" y="2573020"/>
                  </a:cubicBezTo>
                  <a:cubicBezTo>
                    <a:pt x="5146040" y="3994023"/>
                    <a:pt x="3994023" y="5146040"/>
                    <a:pt x="2573020" y="5146040"/>
                  </a:cubicBezTo>
                  <a:cubicBezTo>
                    <a:pt x="1152017" y="5146040"/>
                    <a:pt x="0" y="3994023"/>
                    <a:pt x="0" y="2573020"/>
                  </a:cubicBezTo>
                  <a:close/>
                </a:path>
              </a:pathLst>
            </a:custGeom>
            <a:solidFill>
              <a:srgbClr val="F2AFBC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921740" y="3497580"/>
            <a:ext cx="2057400" cy="2057400"/>
            <a:chOff x="0" y="0"/>
            <a:chExt cx="2743200" cy="2743200"/>
          </a:xfrm>
        </p:grpSpPr>
        <p:sp>
          <p:nvSpPr>
            <p:cNvPr name="Freeform 15" id="15" descr="pata de animal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8645" y="5212080"/>
            <a:ext cx="6893124" cy="2739369"/>
            <a:chOff x="0" y="0"/>
            <a:chExt cx="9122940" cy="36255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22939" cy="3625511"/>
            </a:xfrm>
            <a:custGeom>
              <a:avLst/>
              <a:gdLst/>
              <a:ahLst/>
              <a:cxnLst/>
              <a:rect r="r" b="b" t="t" l="l"/>
              <a:pathLst>
                <a:path h="3625511" w="9122939">
                  <a:moveTo>
                    <a:pt x="0" y="0"/>
                  </a:moveTo>
                  <a:lnTo>
                    <a:pt x="9122939" y="0"/>
                  </a:lnTo>
                  <a:lnTo>
                    <a:pt x="9122939" y="3625511"/>
                  </a:lnTo>
                  <a:lnTo>
                    <a:pt x="0" y="3625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5" r="-48341" b="70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122940" cy="3692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80"/>
                </a:lnSpc>
              </a:pPr>
              <a:r>
                <a:rPr lang="en-US" sz="3400" i="true">
                  <a:solidFill>
                    <a:srgbClr val="516A9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Gabr</a:t>
              </a:r>
              <a:r>
                <a:rPr lang="en-US" sz="3400" i="true">
                  <a:solidFill>
                    <a:srgbClr val="516A9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iel da Silva Cassino</a:t>
              </a:r>
            </a:p>
            <a:p>
              <a:pPr algn="l">
                <a:lnSpc>
                  <a:spcPts val="4080"/>
                </a:lnSpc>
              </a:pPr>
              <a:r>
                <a:rPr lang="en-US" sz="3400" i="true">
                  <a:solidFill>
                    <a:srgbClr val="516A9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Giovanna Naves Ribeiro</a:t>
              </a:r>
            </a:p>
            <a:p>
              <a:pPr algn="l">
                <a:lnSpc>
                  <a:spcPts val="4080"/>
                </a:lnSpc>
              </a:pPr>
              <a:r>
                <a:rPr lang="en-US" sz="3400" i="true">
                  <a:solidFill>
                    <a:srgbClr val="516A9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Júlia Rodrigues Vasconcellos Melo</a:t>
              </a:r>
            </a:p>
            <a:p>
              <a:pPr algn="l">
                <a:lnSpc>
                  <a:spcPts val="4080"/>
                </a:lnSpc>
              </a:pPr>
              <a:r>
                <a:rPr lang="en-US" sz="3400" i="true">
                  <a:solidFill>
                    <a:srgbClr val="516A9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Kathleen Rodrigues Leite Barbosa</a:t>
              </a:r>
            </a:p>
            <a:p>
              <a:pPr algn="l">
                <a:lnSpc>
                  <a:spcPts val="408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Maria e o Thor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596515"/>
            <a:ext cx="5231130" cy="5505450"/>
            <a:chOff x="0" y="0"/>
            <a:chExt cx="6974840" cy="7340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4840" cy="7340600"/>
            </a:xfrm>
            <a:custGeom>
              <a:avLst/>
              <a:gdLst/>
              <a:ahLst/>
              <a:cxnLst/>
              <a:rect r="r" b="b" t="t" l="l"/>
              <a:pathLst>
                <a:path h="7340600" w="6974840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6754622" y="0"/>
                  </a:lnTo>
                  <a:cubicBezTo>
                    <a:pt x="6876288" y="0"/>
                    <a:pt x="6974840" y="98679"/>
                    <a:pt x="6974840" y="220218"/>
                  </a:cubicBezTo>
                  <a:lnTo>
                    <a:pt x="6974840" y="7120382"/>
                  </a:lnTo>
                  <a:cubicBezTo>
                    <a:pt x="6974840" y="7242048"/>
                    <a:pt x="6876161" y="7340600"/>
                    <a:pt x="6754622" y="7340600"/>
                  </a:cubicBezTo>
                  <a:lnTo>
                    <a:pt x="220218" y="7340600"/>
                  </a:lnTo>
                  <a:cubicBezTo>
                    <a:pt x="98679" y="7340600"/>
                    <a:pt x="0" y="7241921"/>
                    <a:pt x="0" y="7120382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93495" y="3007995"/>
            <a:ext cx="1390650" cy="1390650"/>
            <a:chOff x="0" y="0"/>
            <a:chExt cx="1854200" cy="1854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F2AFBC"/>
            </a:solidFill>
            <a:ln w="19050" cap="sq">
              <a:solidFill>
                <a:srgbClr val="2A9D8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04772" y="3319272"/>
            <a:ext cx="768096" cy="768096"/>
            <a:chOff x="0" y="0"/>
            <a:chExt cx="1024128" cy="1024128"/>
          </a:xfrm>
        </p:grpSpPr>
        <p:sp>
          <p:nvSpPr>
            <p:cNvPr name="Freeform 10" id="10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03020" y="4663440"/>
            <a:ext cx="4251960" cy="685800"/>
            <a:chOff x="0" y="0"/>
            <a:chExt cx="566928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69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Situação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3020" y="5448300"/>
            <a:ext cx="4251960" cy="291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Maria ama o Thor, mas a consulta particular custa de R$ 150 a R$ 350. Vacina e rotina vão ficando para depois.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36995" y="2596515"/>
            <a:ext cx="5231130" cy="5505450"/>
            <a:chOff x="0" y="0"/>
            <a:chExt cx="6974840" cy="7340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74840" cy="7340600"/>
            </a:xfrm>
            <a:custGeom>
              <a:avLst/>
              <a:gdLst/>
              <a:ahLst/>
              <a:cxnLst/>
              <a:rect r="r" b="b" t="t" l="l"/>
              <a:pathLst>
                <a:path h="7340600" w="6974840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6754622" y="0"/>
                  </a:lnTo>
                  <a:cubicBezTo>
                    <a:pt x="6876288" y="0"/>
                    <a:pt x="6974840" y="98679"/>
                    <a:pt x="6974840" y="220218"/>
                  </a:cubicBezTo>
                  <a:lnTo>
                    <a:pt x="6974840" y="7120382"/>
                  </a:lnTo>
                  <a:cubicBezTo>
                    <a:pt x="6974840" y="7242048"/>
                    <a:pt x="6876161" y="7340600"/>
                    <a:pt x="6754622" y="7340600"/>
                  </a:cubicBezTo>
                  <a:lnTo>
                    <a:pt x="220218" y="7340600"/>
                  </a:lnTo>
                  <a:cubicBezTo>
                    <a:pt x="98679" y="7340600"/>
                    <a:pt x="0" y="7241921"/>
                    <a:pt x="0" y="7120382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917055" y="3007995"/>
            <a:ext cx="1390650" cy="1390650"/>
            <a:chOff x="0" y="0"/>
            <a:chExt cx="1854200" cy="1854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4F6996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228332" y="3319272"/>
            <a:ext cx="768096" cy="768096"/>
            <a:chOff x="0" y="0"/>
            <a:chExt cx="1024128" cy="1024128"/>
          </a:xfrm>
        </p:grpSpPr>
        <p:sp>
          <p:nvSpPr>
            <p:cNvPr name="Freeform 20" id="20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926580" y="4663440"/>
            <a:ext cx="4251960" cy="685800"/>
            <a:chOff x="0" y="0"/>
            <a:chExt cx="566928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669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Conflito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926580" y="5448300"/>
            <a:ext cx="4251960" cy="291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Thor adoece. Maria não sabe se é grave nem aonde ir. O que era prevenível vira emergência.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60555" y="2596515"/>
            <a:ext cx="5231130" cy="5505450"/>
            <a:chOff x="0" y="0"/>
            <a:chExt cx="6974840" cy="7340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74840" cy="7340600"/>
            </a:xfrm>
            <a:custGeom>
              <a:avLst/>
              <a:gdLst/>
              <a:ahLst/>
              <a:cxnLst/>
              <a:rect r="r" b="b" t="t" l="l"/>
              <a:pathLst>
                <a:path h="7340600" w="6974840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6754622" y="0"/>
                  </a:lnTo>
                  <a:cubicBezTo>
                    <a:pt x="6876288" y="0"/>
                    <a:pt x="6974840" y="98679"/>
                    <a:pt x="6974840" y="220218"/>
                  </a:cubicBezTo>
                  <a:lnTo>
                    <a:pt x="6974840" y="7120382"/>
                  </a:lnTo>
                  <a:cubicBezTo>
                    <a:pt x="6974840" y="7242048"/>
                    <a:pt x="6876161" y="7340600"/>
                    <a:pt x="6754622" y="7340600"/>
                  </a:cubicBezTo>
                  <a:lnTo>
                    <a:pt x="220218" y="7340600"/>
                  </a:lnTo>
                  <a:cubicBezTo>
                    <a:pt x="98679" y="7340600"/>
                    <a:pt x="0" y="7241921"/>
                    <a:pt x="0" y="7120382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540615" y="3007995"/>
            <a:ext cx="1390650" cy="1390650"/>
            <a:chOff x="0" y="0"/>
            <a:chExt cx="1854200" cy="1854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F4A261"/>
            </a:solidFill>
            <a:ln w="19050" cap="sq">
              <a:solidFill>
                <a:srgbClr val="0F4C5C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51892" y="3319272"/>
            <a:ext cx="768096" cy="768096"/>
            <a:chOff x="0" y="0"/>
            <a:chExt cx="1024128" cy="1024128"/>
          </a:xfrm>
        </p:grpSpPr>
        <p:sp>
          <p:nvSpPr>
            <p:cNvPr name="Freeform 30" id="30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550140" y="4663440"/>
            <a:ext cx="4251960" cy="685800"/>
            <a:chOff x="0" y="0"/>
            <a:chExt cx="566928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669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Resolução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550140" y="5448300"/>
            <a:ext cx="4251960" cy="291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Com o PetCuida: lembrete de vacina, triagem orientativa, clínica parceira a preço social. A história acaba antes da emergência.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5606" y="8633460"/>
            <a:ext cx="15636240" cy="480060"/>
            <a:chOff x="0" y="0"/>
            <a:chExt cx="2084832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Maria e Thor são personagens fictícios, compostos a partir das entrevistas e testes da Atividade VI. Preço da consulta: levantamento da Atividade IX.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0" y="0"/>
            <a:ext cx="18288000" cy="727733"/>
          </a:xfrm>
          <a:custGeom>
            <a:avLst/>
            <a:gdLst/>
            <a:ahLst/>
            <a:cxnLst/>
            <a:rect r="r" b="b" t="t" l="l"/>
            <a:pathLst>
              <a:path h="727733" w="18288000">
                <a:moveTo>
                  <a:pt x="0" y="0"/>
                </a:moveTo>
                <a:lnTo>
                  <a:pt x="18288000" y="0"/>
                </a:lnTo>
                <a:lnTo>
                  <a:pt x="18288000" y="727733"/>
                </a:lnTo>
                <a:lnTo>
                  <a:pt x="0" y="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51" t="-186363" r="0" b="-1466913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45720" y="9441254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50595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cuidado preventivo ainda não chega a todos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459355"/>
            <a:ext cx="5231130" cy="4408170"/>
            <a:chOff x="0" y="0"/>
            <a:chExt cx="6974840" cy="5877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4839" cy="5877433"/>
            </a:xfrm>
            <a:custGeom>
              <a:avLst/>
              <a:gdLst/>
              <a:ahLst/>
              <a:cxnLst/>
              <a:rect r="r" b="b" t="t" l="l"/>
              <a:pathLst>
                <a:path h="5877433" w="6974839">
                  <a:moveTo>
                    <a:pt x="0" y="220472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754495" y="0"/>
                  </a:lnTo>
                  <a:cubicBezTo>
                    <a:pt x="6876161" y="0"/>
                    <a:pt x="6974839" y="98679"/>
                    <a:pt x="6974839" y="220345"/>
                  </a:cubicBezTo>
                  <a:lnTo>
                    <a:pt x="6974839" y="5657088"/>
                  </a:lnTo>
                  <a:cubicBezTo>
                    <a:pt x="6974839" y="5778754"/>
                    <a:pt x="6876161" y="5877433"/>
                    <a:pt x="6754495" y="5877433"/>
                  </a:cubicBezTo>
                  <a:lnTo>
                    <a:pt x="220472" y="5877433"/>
                  </a:lnTo>
                  <a:cubicBezTo>
                    <a:pt x="98679" y="5877560"/>
                    <a:pt x="0" y="5778881"/>
                    <a:pt x="0" y="5657088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743200"/>
            <a:ext cx="4389120" cy="1783080"/>
            <a:chOff x="0" y="0"/>
            <a:chExt cx="5852160" cy="2377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46,1%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34440" y="4625340"/>
            <a:ext cx="43891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dos lares brasileiros têm ao menos um cachorro (33,8 milhões)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36995" y="2459355"/>
            <a:ext cx="5231130" cy="4408170"/>
            <a:chOff x="0" y="0"/>
            <a:chExt cx="6974840" cy="5877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74839" cy="5877433"/>
            </a:xfrm>
            <a:custGeom>
              <a:avLst/>
              <a:gdLst/>
              <a:ahLst/>
              <a:cxnLst/>
              <a:rect r="r" b="b" t="t" l="l"/>
              <a:pathLst>
                <a:path h="5877433" w="6974839">
                  <a:moveTo>
                    <a:pt x="0" y="220472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754495" y="0"/>
                  </a:lnTo>
                  <a:cubicBezTo>
                    <a:pt x="6876161" y="0"/>
                    <a:pt x="6974839" y="98679"/>
                    <a:pt x="6974839" y="220345"/>
                  </a:cubicBezTo>
                  <a:lnTo>
                    <a:pt x="6974839" y="5657088"/>
                  </a:lnTo>
                  <a:cubicBezTo>
                    <a:pt x="6974839" y="5778754"/>
                    <a:pt x="6876161" y="5877433"/>
                    <a:pt x="6754495" y="5877433"/>
                  </a:cubicBezTo>
                  <a:lnTo>
                    <a:pt x="220472" y="5877433"/>
                  </a:lnTo>
                  <a:cubicBezTo>
                    <a:pt x="98679" y="5877560"/>
                    <a:pt x="0" y="5778881"/>
                    <a:pt x="0" y="5657088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858000" y="2743200"/>
            <a:ext cx="4389120" cy="1783080"/>
            <a:chOff x="0" y="0"/>
            <a:chExt cx="585216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85216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19,3%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58000" y="4625340"/>
            <a:ext cx="43891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dos lares têm ao menos um gato (14,1 milhões)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60555" y="2459355"/>
            <a:ext cx="5231130" cy="4408170"/>
            <a:chOff x="0" y="0"/>
            <a:chExt cx="6974840" cy="5877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4839" cy="5877433"/>
            </a:xfrm>
            <a:custGeom>
              <a:avLst/>
              <a:gdLst/>
              <a:ahLst/>
              <a:cxnLst/>
              <a:rect r="r" b="b" t="t" l="l"/>
              <a:pathLst>
                <a:path h="5877433" w="6974839">
                  <a:moveTo>
                    <a:pt x="0" y="220472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754495" y="0"/>
                  </a:lnTo>
                  <a:cubicBezTo>
                    <a:pt x="6876161" y="0"/>
                    <a:pt x="6974839" y="98679"/>
                    <a:pt x="6974839" y="220345"/>
                  </a:cubicBezTo>
                  <a:lnTo>
                    <a:pt x="6974839" y="5657088"/>
                  </a:lnTo>
                  <a:cubicBezTo>
                    <a:pt x="6974839" y="5778754"/>
                    <a:pt x="6876161" y="5877433"/>
                    <a:pt x="6754495" y="5877433"/>
                  </a:cubicBezTo>
                  <a:lnTo>
                    <a:pt x="220472" y="5877433"/>
                  </a:lnTo>
                  <a:cubicBezTo>
                    <a:pt x="98679" y="5877560"/>
                    <a:pt x="0" y="5778881"/>
                    <a:pt x="0" y="5657088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81560" y="2743200"/>
            <a:ext cx="4389120" cy="1783080"/>
            <a:chOff x="0" y="0"/>
            <a:chExt cx="5852160" cy="2377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85216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26B5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28%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481560" y="4625340"/>
            <a:ext cx="43891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dos lares com cães ou gatos têm animais sem vacina antirrábica completa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7259955"/>
            <a:ext cx="16615410" cy="1802130"/>
            <a:chOff x="0" y="0"/>
            <a:chExt cx="22153880" cy="2402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53880" cy="2402840"/>
            </a:xfrm>
            <a:custGeom>
              <a:avLst/>
              <a:gdLst/>
              <a:ahLst/>
              <a:cxnLst/>
              <a:rect r="r" b="b" t="t" l="l"/>
              <a:pathLst>
                <a:path h="2402840" w="2215388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21932012" y="0"/>
                  </a:lnTo>
                  <a:cubicBezTo>
                    <a:pt x="22054567" y="0"/>
                    <a:pt x="22153880" y="99314"/>
                    <a:pt x="22153880" y="221869"/>
                  </a:cubicBezTo>
                  <a:lnTo>
                    <a:pt x="22153880" y="2180971"/>
                  </a:lnTo>
                  <a:cubicBezTo>
                    <a:pt x="22153880" y="2303526"/>
                    <a:pt x="22054567" y="2402840"/>
                    <a:pt x="21932012" y="2402840"/>
                  </a:cubicBezTo>
                  <a:lnTo>
                    <a:pt x="221869" y="2402840"/>
                  </a:lnTo>
                  <a:cubicBezTo>
                    <a:pt x="99314" y="2402840"/>
                    <a:pt x="0" y="2303526"/>
                    <a:pt x="0" y="2180971"/>
                  </a:cubicBezTo>
                  <a:close/>
                </a:path>
              </a:pathLst>
            </a:custGeom>
            <a:solidFill>
              <a:srgbClr val="0F4C5C"/>
            </a:solidFill>
            <a:ln w="19050" cap="sq">
              <a:solidFill>
                <a:srgbClr val="0F4C5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03020" y="7680960"/>
            <a:ext cx="960120" cy="960120"/>
            <a:chOff x="0" y="0"/>
            <a:chExt cx="1280160" cy="1280160"/>
          </a:xfrm>
        </p:grpSpPr>
        <p:sp>
          <p:nvSpPr>
            <p:cNvPr name="Freeform 26" id="26" descr="dinheiro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606040" y="7406640"/>
            <a:ext cx="14401800" cy="1508760"/>
            <a:chOff x="0" y="0"/>
            <a:chExt cx="19202400" cy="2011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202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920240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R$ 150 a R$ 350 </a:t>
              </a: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consulta particular em Belo Horizonte: para muitas famílias, a prevenção fica para depois.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9018270"/>
            <a:ext cx="15636240" cy="480060"/>
            <a:chOff x="0" y="0"/>
            <a:chExt cx="208483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Fontes: IBGE, Pesquisa Nacional de Saúde 2019 (28% = complemento dos 72% com todos os animais vacinados); levantamento de preços do grupo (Atividade IX).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51" t="-161160" r="0" b="-1255012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17245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 app que organiza a saúde do pet e conecta o tutor à clínica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390775"/>
            <a:ext cx="8180070" cy="2625090"/>
            <a:chOff x="0" y="0"/>
            <a:chExt cx="10906760" cy="3500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10685653" y="0"/>
                  </a:lnTo>
                  <a:cubicBezTo>
                    <a:pt x="10807700" y="0"/>
                    <a:pt x="10906760" y="98933"/>
                    <a:pt x="10906760" y="221107"/>
                  </a:cubicBezTo>
                  <a:lnTo>
                    <a:pt x="10906760" y="3279013"/>
                  </a:lnTo>
                  <a:cubicBezTo>
                    <a:pt x="10906760" y="3401060"/>
                    <a:pt x="10807827" y="3500120"/>
                    <a:pt x="10685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24915" y="3007995"/>
            <a:ext cx="1390650" cy="1390650"/>
            <a:chOff x="0" y="0"/>
            <a:chExt cx="1854200" cy="1854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0F4C5C"/>
            </a:solidFill>
            <a:ln w="19050" cap="sq">
              <a:solidFill>
                <a:srgbClr val="0F4C5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" y="3319272"/>
            <a:ext cx="768096" cy="768096"/>
            <a:chOff x="0" y="0"/>
            <a:chExt cx="1024128" cy="1024128"/>
          </a:xfrm>
        </p:grpSpPr>
        <p:sp>
          <p:nvSpPr>
            <p:cNvPr name="Freeform 10" id="10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948940" y="2880360"/>
            <a:ext cx="5760720" cy="754380"/>
            <a:chOff x="0" y="0"/>
            <a:chExt cx="768096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80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680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Prontuário com QR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48940" y="3665220"/>
            <a:ext cx="57607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 do animal sempre à mão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8775" y="2390775"/>
            <a:ext cx="8180070" cy="2625090"/>
            <a:chOff x="0" y="0"/>
            <a:chExt cx="10906760" cy="3500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10685653" y="0"/>
                  </a:lnTo>
                  <a:cubicBezTo>
                    <a:pt x="10807700" y="0"/>
                    <a:pt x="10906760" y="98933"/>
                    <a:pt x="10906760" y="221107"/>
                  </a:cubicBezTo>
                  <a:lnTo>
                    <a:pt x="10906760" y="3279013"/>
                  </a:lnTo>
                  <a:cubicBezTo>
                    <a:pt x="10906760" y="3401060"/>
                    <a:pt x="10807827" y="3500120"/>
                    <a:pt x="10685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60255" y="3007995"/>
            <a:ext cx="1390650" cy="1390650"/>
            <a:chOff x="0" y="0"/>
            <a:chExt cx="1854200" cy="1854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4F6996"/>
            </a:solidFill>
            <a:ln w="19050" cap="sq">
              <a:solidFill>
                <a:srgbClr val="2A9D8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971532" y="3319272"/>
            <a:ext cx="768096" cy="768096"/>
            <a:chOff x="0" y="0"/>
            <a:chExt cx="1024128" cy="1024128"/>
          </a:xfrm>
        </p:grpSpPr>
        <p:sp>
          <p:nvSpPr>
            <p:cNvPr name="Freeform 20" id="20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384280" y="2880360"/>
            <a:ext cx="5760720" cy="754380"/>
            <a:chOff x="0" y="0"/>
            <a:chExt cx="768096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680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Calendário de vacinas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384280" y="3665220"/>
            <a:ext cx="57607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Lembretes para não perder o prazo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3435" y="5271135"/>
            <a:ext cx="8180070" cy="2625090"/>
            <a:chOff x="0" y="0"/>
            <a:chExt cx="10906760" cy="3500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10685653" y="0"/>
                  </a:lnTo>
                  <a:cubicBezTo>
                    <a:pt x="10807700" y="0"/>
                    <a:pt x="10906760" y="98933"/>
                    <a:pt x="10906760" y="221107"/>
                  </a:cubicBezTo>
                  <a:lnTo>
                    <a:pt x="10906760" y="3279013"/>
                  </a:lnTo>
                  <a:cubicBezTo>
                    <a:pt x="10906760" y="3401060"/>
                    <a:pt x="10807827" y="3500120"/>
                    <a:pt x="10685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24915" y="5888355"/>
            <a:ext cx="1390650" cy="1390650"/>
            <a:chOff x="0" y="0"/>
            <a:chExt cx="1854200" cy="1854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F26B5B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36192" y="6199632"/>
            <a:ext cx="768096" cy="768096"/>
            <a:chOff x="0" y="0"/>
            <a:chExt cx="1024128" cy="1024128"/>
          </a:xfrm>
        </p:grpSpPr>
        <p:sp>
          <p:nvSpPr>
            <p:cNvPr name="Freeform 30" id="30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948940" y="5760720"/>
            <a:ext cx="5760720" cy="754380"/>
            <a:chOff x="0" y="0"/>
            <a:chExt cx="768096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680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Triagem orientativa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948940" y="6545580"/>
            <a:ext cx="57607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Descreve o sintoma e recebe orientação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48775" y="5271135"/>
            <a:ext cx="8180070" cy="2625090"/>
            <a:chOff x="0" y="0"/>
            <a:chExt cx="10906760" cy="3500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10685653" y="0"/>
                  </a:lnTo>
                  <a:cubicBezTo>
                    <a:pt x="10807700" y="0"/>
                    <a:pt x="10906760" y="98933"/>
                    <a:pt x="10906760" y="221107"/>
                  </a:cubicBezTo>
                  <a:lnTo>
                    <a:pt x="10906760" y="3279013"/>
                  </a:lnTo>
                  <a:cubicBezTo>
                    <a:pt x="10906760" y="3401060"/>
                    <a:pt x="10807827" y="3500120"/>
                    <a:pt x="10685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60255" y="5888355"/>
            <a:ext cx="1390650" cy="1390650"/>
            <a:chOff x="0" y="0"/>
            <a:chExt cx="1854200" cy="1854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F4A261"/>
            </a:solidFill>
            <a:ln w="19050" cap="sq">
              <a:solidFill>
                <a:srgbClr val="26465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971532" y="6199632"/>
            <a:ext cx="768096" cy="768096"/>
            <a:chOff x="0" y="0"/>
            <a:chExt cx="1024128" cy="1024128"/>
          </a:xfrm>
        </p:grpSpPr>
        <p:sp>
          <p:nvSpPr>
            <p:cNvPr name="Freeform 40" id="40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384280" y="5760720"/>
            <a:ext cx="5760720" cy="754380"/>
            <a:chOff x="0" y="0"/>
            <a:chExt cx="768096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7680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Rede solidária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384280" y="6545580"/>
            <a:ext cx="57607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Clínicas parceiras, preço social e créditos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13435" y="8220075"/>
            <a:ext cx="16615410" cy="1047750"/>
            <a:chOff x="0" y="0"/>
            <a:chExt cx="22153880" cy="1397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15388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15388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21930361" y="0"/>
                  </a:lnTo>
                  <a:cubicBezTo>
                    <a:pt x="22053804" y="0"/>
                    <a:pt x="22153880" y="100076"/>
                    <a:pt x="22153880" y="223520"/>
                  </a:cubicBezTo>
                  <a:lnTo>
                    <a:pt x="22153880" y="1173480"/>
                  </a:lnTo>
                  <a:cubicBezTo>
                    <a:pt x="22153880" y="1296924"/>
                    <a:pt x="22053804" y="1397000"/>
                    <a:pt x="21930361" y="1397000"/>
                  </a:cubicBezTo>
                  <a:lnTo>
                    <a:pt x="223520" y="1397000"/>
                  </a:lnTo>
                  <a:cubicBezTo>
                    <a:pt x="100076" y="1397000"/>
                    <a:pt x="0" y="1296924"/>
                    <a:pt x="0" y="1173480"/>
                  </a:cubicBezTo>
                  <a:close/>
                </a:path>
              </a:pathLst>
            </a:custGeom>
            <a:solidFill>
              <a:srgbClr val="F26B5B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34440" y="8229600"/>
            <a:ext cx="15773400" cy="1028700"/>
            <a:chOff x="0" y="0"/>
            <a:chExt cx="2103120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10312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PetCuida orienta e encaminha. Não diagnostica nem substitui o médico-veterinário.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91540" y="9166860"/>
            <a:ext cx="15636240" cy="480060"/>
            <a:chOff x="0" y="0"/>
            <a:chExt cx="2084832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Versão atual: protótipo funcional Alpha 3i (dados locais e demonstrativos).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51" t="-161160" r="0" b="-1255012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633" y="864870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Dois lados de uma mesma plataforma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459355"/>
            <a:ext cx="7151370" cy="6328410"/>
            <a:chOff x="0" y="0"/>
            <a:chExt cx="9535160" cy="8437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35160" cy="8437880"/>
            </a:xfrm>
            <a:custGeom>
              <a:avLst/>
              <a:gdLst/>
              <a:ahLst/>
              <a:cxnLst/>
              <a:rect r="r" b="b" t="t" l="l"/>
              <a:pathLst>
                <a:path h="8437880" w="953516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9315069" y="0"/>
                  </a:lnTo>
                  <a:cubicBezTo>
                    <a:pt x="9436608" y="0"/>
                    <a:pt x="9535160" y="98552"/>
                    <a:pt x="9535160" y="220091"/>
                  </a:cubicBezTo>
                  <a:lnTo>
                    <a:pt x="9535160" y="8217789"/>
                  </a:lnTo>
                  <a:cubicBezTo>
                    <a:pt x="9535160" y="8339328"/>
                    <a:pt x="9436608" y="8437880"/>
                    <a:pt x="9315069" y="8437880"/>
                  </a:cubicBezTo>
                  <a:lnTo>
                    <a:pt x="220091" y="8437880"/>
                  </a:lnTo>
                  <a:cubicBezTo>
                    <a:pt x="98552" y="8437880"/>
                    <a:pt x="0" y="8339328"/>
                    <a:pt x="0" y="8217789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318623" y="2459355"/>
            <a:ext cx="7151370" cy="6328410"/>
            <a:chOff x="0" y="0"/>
            <a:chExt cx="9535160" cy="8437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35160" cy="8437880"/>
            </a:xfrm>
            <a:custGeom>
              <a:avLst/>
              <a:gdLst/>
              <a:ahLst/>
              <a:cxnLst/>
              <a:rect r="r" b="b" t="t" l="l"/>
              <a:pathLst>
                <a:path h="8437880" w="953516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9315069" y="0"/>
                  </a:lnTo>
                  <a:cubicBezTo>
                    <a:pt x="9436608" y="0"/>
                    <a:pt x="9535160" y="98552"/>
                    <a:pt x="9535160" y="220091"/>
                  </a:cubicBezTo>
                  <a:lnTo>
                    <a:pt x="9535160" y="8217789"/>
                  </a:lnTo>
                  <a:cubicBezTo>
                    <a:pt x="9535160" y="8339328"/>
                    <a:pt x="9436608" y="8437880"/>
                    <a:pt x="9315069" y="8437880"/>
                  </a:cubicBezTo>
                  <a:lnTo>
                    <a:pt x="220091" y="8437880"/>
                  </a:lnTo>
                  <a:cubicBezTo>
                    <a:pt x="98552" y="8437880"/>
                    <a:pt x="0" y="8339328"/>
                    <a:pt x="0" y="8217789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93495" y="2870835"/>
            <a:ext cx="1527810" cy="1527810"/>
            <a:chOff x="0" y="0"/>
            <a:chExt cx="2037080" cy="2037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7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2037080">
                  <a:moveTo>
                    <a:pt x="0" y="1018540"/>
                  </a:moveTo>
                  <a:cubicBezTo>
                    <a:pt x="0" y="456057"/>
                    <a:pt x="456057" y="0"/>
                    <a:pt x="1018540" y="0"/>
                  </a:cubicBezTo>
                  <a:cubicBezTo>
                    <a:pt x="1581023" y="0"/>
                    <a:pt x="2037080" y="456057"/>
                    <a:pt x="2037080" y="1018540"/>
                  </a:cubicBezTo>
                  <a:cubicBezTo>
                    <a:pt x="2037080" y="1581023"/>
                    <a:pt x="1581023" y="2037080"/>
                    <a:pt x="1018540" y="2037080"/>
                  </a:cubicBezTo>
                  <a:cubicBezTo>
                    <a:pt x="456057" y="2037080"/>
                    <a:pt x="0" y="1581023"/>
                    <a:pt x="0" y="1018540"/>
                  </a:cubicBezTo>
                  <a:close/>
                </a:path>
              </a:pathLst>
            </a:custGeom>
            <a:solidFill>
              <a:srgbClr val="0F4C5C"/>
            </a:solidFill>
            <a:ln w="19050" cap="sq">
              <a:solidFill>
                <a:srgbClr val="0F4C5C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34947" y="3212287"/>
            <a:ext cx="844906" cy="844906"/>
            <a:chOff x="0" y="0"/>
            <a:chExt cx="1126541" cy="1126541"/>
          </a:xfrm>
        </p:grpSpPr>
        <p:sp>
          <p:nvSpPr>
            <p:cNvPr name="Freeform 12" id="12" descr="ícone"/>
            <p:cNvSpPr/>
            <p:nvPr/>
          </p:nvSpPr>
          <p:spPr>
            <a:xfrm flipH="false" flipV="false" rot="0">
              <a:off x="0" y="0"/>
              <a:ext cx="1126490" cy="1126490"/>
            </a:xfrm>
            <a:custGeom>
              <a:avLst/>
              <a:gdLst/>
              <a:ahLst/>
              <a:cxnLst/>
              <a:rect r="r" b="b" t="t" l="l"/>
              <a:pathLst>
                <a:path h="1126490" w="1126490">
                  <a:moveTo>
                    <a:pt x="0" y="0"/>
                  </a:moveTo>
                  <a:lnTo>
                    <a:pt x="1126490" y="0"/>
                  </a:lnTo>
                  <a:lnTo>
                    <a:pt x="1126490" y="1126490"/>
                  </a:lnTo>
                  <a:lnTo>
                    <a:pt x="0" y="1126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798683" y="2870835"/>
            <a:ext cx="1527810" cy="1527810"/>
            <a:chOff x="0" y="0"/>
            <a:chExt cx="2037080" cy="2037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7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2037080">
                  <a:moveTo>
                    <a:pt x="0" y="1018540"/>
                  </a:moveTo>
                  <a:cubicBezTo>
                    <a:pt x="0" y="456057"/>
                    <a:pt x="456057" y="0"/>
                    <a:pt x="1018540" y="0"/>
                  </a:cubicBezTo>
                  <a:cubicBezTo>
                    <a:pt x="1581023" y="0"/>
                    <a:pt x="2037080" y="456057"/>
                    <a:pt x="2037080" y="1018540"/>
                  </a:cubicBezTo>
                  <a:cubicBezTo>
                    <a:pt x="2037080" y="1581023"/>
                    <a:pt x="1581023" y="2037080"/>
                    <a:pt x="1018540" y="2037080"/>
                  </a:cubicBezTo>
                  <a:cubicBezTo>
                    <a:pt x="456057" y="2037080"/>
                    <a:pt x="0" y="1581023"/>
                    <a:pt x="0" y="1018540"/>
                  </a:cubicBezTo>
                  <a:close/>
                </a:path>
              </a:pathLst>
            </a:custGeom>
            <a:solidFill>
              <a:srgbClr val="F26B5B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140135" y="3212287"/>
            <a:ext cx="844906" cy="844906"/>
            <a:chOff x="0" y="0"/>
            <a:chExt cx="1126541" cy="1126541"/>
          </a:xfrm>
        </p:grpSpPr>
        <p:sp>
          <p:nvSpPr>
            <p:cNvPr name="Freeform 16" id="16" descr="ícone"/>
            <p:cNvSpPr/>
            <p:nvPr/>
          </p:nvSpPr>
          <p:spPr>
            <a:xfrm flipH="false" flipV="false" rot="0">
              <a:off x="0" y="0"/>
              <a:ext cx="1126490" cy="1126490"/>
            </a:xfrm>
            <a:custGeom>
              <a:avLst/>
              <a:gdLst/>
              <a:ahLst/>
              <a:cxnLst/>
              <a:rect r="r" b="b" t="t" l="l"/>
              <a:pathLst>
                <a:path h="1126490" w="1126490">
                  <a:moveTo>
                    <a:pt x="0" y="0"/>
                  </a:moveTo>
                  <a:lnTo>
                    <a:pt x="1126490" y="0"/>
                  </a:lnTo>
                  <a:lnTo>
                    <a:pt x="1126490" y="1126490"/>
                  </a:lnTo>
                  <a:lnTo>
                    <a:pt x="0" y="1126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086100" y="2948940"/>
            <a:ext cx="4663440" cy="822960"/>
            <a:chOff x="0" y="0"/>
            <a:chExt cx="621792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2179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Tutores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86100" y="3771900"/>
            <a:ext cx="4663440" cy="548640"/>
            <a:chOff x="0" y="0"/>
            <a:chExt cx="62179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Núcleo: classes C, D e 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03020" y="4880610"/>
            <a:ext cx="6309360" cy="348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Barreiras econômicas e geográficas de acesso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Pagam menos pelo atendimento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Não pagam para usar o núcleo do app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591288" y="2948940"/>
            <a:ext cx="4800600" cy="822960"/>
            <a:chOff x="0" y="0"/>
            <a:chExt cx="640080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4008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26B5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Clínicas e ONGs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91288" y="3771900"/>
            <a:ext cx="4800600" cy="548640"/>
            <a:chOff x="0" y="0"/>
            <a:chExt cx="64008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400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lado que financia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808208" y="4880610"/>
            <a:ext cx="6309360" cy="348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Novos clientes e horários ocupados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Agenda e destaque no mapa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 social para ONGs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848600" y="4488180"/>
            <a:ext cx="2545080" cy="2545080"/>
            <a:chOff x="0" y="0"/>
            <a:chExt cx="3393440" cy="339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93440" cy="3393440"/>
            </a:xfrm>
            <a:custGeom>
              <a:avLst/>
              <a:gdLst/>
              <a:ahLst/>
              <a:cxnLst/>
              <a:rect r="r" b="b" t="t" l="l"/>
              <a:pathLst>
                <a:path h="3393440" w="3393440">
                  <a:moveTo>
                    <a:pt x="0" y="1696720"/>
                  </a:moveTo>
                  <a:cubicBezTo>
                    <a:pt x="0" y="759587"/>
                    <a:pt x="759587" y="0"/>
                    <a:pt x="1696720" y="0"/>
                  </a:cubicBezTo>
                  <a:cubicBezTo>
                    <a:pt x="2633853" y="0"/>
                    <a:pt x="3393440" y="759587"/>
                    <a:pt x="3393440" y="1696720"/>
                  </a:cubicBezTo>
                  <a:cubicBezTo>
                    <a:pt x="3393440" y="2633853"/>
                    <a:pt x="2633853" y="3393440"/>
                    <a:pt x="1696720" y="3393440"/>
                  </a:cubicBezTo>
                  <a:cubicBezTo>
                    <a:pt x="759587" y="3393440"/>
                    <a:pt x="0" y="2633853"/>
                    <a:pt x="0" y="1696720"/>
                  </a:cubicBezTo>
                  <a:close/>
                </a:path>
              </a:pathLst>
            </a:custGeom>
            <a:solidFill>
              <a:srgbClr val="4F6996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503920" y="4869180"/>
            <a:ext cx="1234440" cy="1234440"/>
            <a:chOff x="0" y="0"/>
            <a:chExt cx="1645920" cy="1645920"/>
          </a:xfrm>
        </p:grpSpPr>
        <p:sp>
          <p:nvSpPr>
            <p:cNvPr name="Freeform 34" id="34" descr="pata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886700" y="7132320"/>
            <a:ext cx="2468880" cy="548640"/>
            <a:chOff x="0" y="0"/>
            <a:chExt cx="32918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F4C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PetCuida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3633" y="8707755"/>
            <a:ext cx="15636240" cy="480060"/>
            <a:chOff x="0" y="0"/>
            <a:chExt cx="2084832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Fontes: entrevistas e testes (Atividade VI); lógica de plataformas de dois lados (Rochet e Tirole, 2003).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51" t="-161160" r="0" b="-1255012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9670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Prevenção para o tutor, clientes para a clínica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459355"/>
            <a:ext cx="5231130" cy="6465570"/>
            <a:chOff x="0" y="0"/>
            <a:chExt cx="6974840" cy="8620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4840" cy="8620761"/>
            </a:xfrm>
            <a:custGeom>
              <a:avLst/>
              <a:gdLst/>
              <a:ahLst/>
              <a:cxnLst/>
              <a:rect r="r" b="b" t="t" l="l"/>
              <a:pathLst>
                <a:path h="8620761" w="6974840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6754622" y="0"/>
                  </a:lnTo>
                  <a:cubicBezTo>
                    <a:pt x="6876288" y="0"/>
                    <a:pt x="6974840" y="98679"/>
                    <a:pt x="6974840" y="220218"/>
                  </a:cubicBezTo>
                  <a:lnTo>
                    <a:pt x="6974840" y="8400542"/>
                  </a:lnTo>
                  <a:cubicBezTo>
                    <a:pt x="6974840" y="8522208"/>
                    <a:pt x="6876161" y="8620761"/>
                    <a:pt x="6754622" y="8620761"/>
                  </a:cubicBezTo>
                  <a:lnTo>
                    <a:pt x="220218" y="8620761"/>
                  </a:lnTo>
                  <a:cubicBezTo>
                    <a:pt x="98679" y="8620760"/>
                    <a:pt x="0" y="8522081"/>
                    <a:pt x="0" y="8400542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24915" y="2802255"/>
            <a:ext cx="1322070" cy="1322070"/>
            <a:chOff x="0" y="0"/>
            <a:chExt cx="1762760" cy="1762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276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762760">
                  <a:moveTo>
                    <a:pt x="0" y="881380"/>
                  </a:moveTo>
                  <a:cubicBezTo>
                    <a:pt x="0" y="394589"/>
                    <a:pt x="394589" y="0"/>
                    <a:pt x="881380" y="0"/>
                  </a:cubicBezTo>
                  <a:cubicBezTo>
                    <a:pt x="1368171" y="0"/>
                    <a:pt x="1762760" y="394589"/>
                    <a:pt x="1762760" y="881380"/>
                  </a:cubicBezTo>
                  <a:cubicBezTo>
                    <a:pt x="1762760" y="1368171"/>
                    <a:pt x="1368171" y="1762760"/>
                    <a:pt x="881380" y="1762760"/>
                  </a:cubicBezTo>
                  <a:cubicBezTo>
                    <a:pt x="394589" y="1762760"/>
                    <a:pt x="0" y="1368171"/>
                    <a:pt x="0" y="881380"/>
                  </a:cubicBezTo>
                  <a:close/>
                </a:path>
              </a:pathLst>
            </a:custGeom>
            <a:solidFill>
              <a:srgbClr val="0F4C5C"/>
            </a:solidFill>
            <a:ln w="19050" cap="sq">
              <a:solidFill>
                <a:srgbClr val="0F4C5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21104" y="3098444"/>
            <a:ext cx="729691" cy="729691"/>
            <a:chOff x="0" y="0"/>
            <a:chExt cx="972922" cy="972922"/>
          </a:xfrm>
        </p:grpSpPr>
        <p:sp>
          <p:nvSpPr>
            <p:cNvPr name="Freeform 10" id="10" descr="ícone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11780" y="3017520"/>
            <a:ext cx="3017520" cy="891540"/>
            <a:chOff x="0" y="0"/>
            <a:chExt cx="4023360" cy="1188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33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02336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Para o tutor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3020" y="4469130"/>
            <a:ext cx="4389120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Núcleo gratuito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Lembretes e prontuário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Preço social e créditos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Menos emergências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36995" y="2459355"/>
            <a:ext cx="5231130" cy="6465570"/>
            <a:chOff x="0" y="0"/>
            <a:chExt cx="6974840" cy="8620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74840" cy="8620761"/>
            </a:xfrm>
            <a:custGeom>
              <a:avLst/>
              <a:gdLst/>
              <a:ahLst/>
              <a:cxnLst/>
              <a:rect r="r" b="b" t="t" l="l"/>
              <a:pathLst>
                <a:path h="8620761" w="6974840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6754622" y="0"/>
                  </a:lnTo>
                  <a:cubicBezTo>
                    <a:pt x="6876288" y="0"/>
                    <a:pt x="6974840" y="98679"/>
                    <a:pt x="6974840" y="220218"/>
                  </a:cubicBezTo>
                  <a:lnTo>
                    <a:pt x="6974840" y="8400542"/>
                  </a:lnTo>
                  <a:cubicBezTo>
                    <a:pt x="6974840" y="8522208"/>
                    <a:pt x="6876161" y="8620761"/>
                    <a:pt x="6754622" y="8620761"/>
                  </a:cubicBezTo>
                  <a:lnTo>
                    <a:pt x="220218" y="8620761"/>
                  </a:lnTo>
                  <a:cubicBezTo>
                    <a:pt x="98679" y="8620760"/>
                    <a:pt x="0" y="8522081"/>
                    <a:pt x="0" y="8400542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48475" y="2802255"/>
            <a:ext cx="1322070" cy="1322070"/>
            <a:chOff x="0" y="0"/>
            <a:chExt cx="1762760" cy="1762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6276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762760">
                  <a:moveTo>
                    <a:pt x="0" y="881380"/>
                  </a:moveTo>
                  <a:cubicBezTo>
                    <a:pt x="0" y="394589"/>
                    <a:pt x="394589" y="0"/>
                    <a:pt x="881380" y="0"/>
                  </a:cubicBezTo>
                  <a:cubicBezTo>
                    <a:pt x="1368171" y="0"/>
                    <a:pt x="1762760" y="394589"/>
                    <a:pt x="1762760" y="881380"/>
                  </a:cubicBezTo>
                  <a:cubicBezTo>
                    <a:pt x="1762760" y="1368171"/>
                    <a:pt x="1368171" y="1762760"/>
                    <a:pt x="881380" y="1762760"/>
                  </a:cubicBezTo>
                  <a:cubicBezTo>
                    <a:pt x="394589" y="1762760"/>
                    <a:pt x="0" y="1368171"/>
                    <a:pt x="0" y="881380"/>
                  </a:cubicBezTo>
                  <a:close/>
                </a:path>
              </a:pathLst>
            </a:custGeom>
            <a:solidFill>
              <a:srgbClr val="F26B5B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144664" y="3098444"/>
            <a:ext cx="729691" cy="729691"/>
            <a:chOff x="0" y="0"/>
            <a:chExt cx="972922" cy="972922"/>
          </a:xfrm>
        </p:grpSpPr>
        <p:sp>
          <p:nvSpPr>
            <p:cNvPr name="Freeform 20" id="20" descr="ícone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35340" y="3017520"/>
            <a:ext cx="3017520" cy="891540"/>
            <a:chOff x="0" y="0"/>
            <a:chExt cx="4023360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02336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Para a clínica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926580" y="4469130"/>
            <a:ext cx="4389120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Novos clientes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Horários ociosos preenchidos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Agenda e destaque no mapa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3 meses grátis no piloto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60555" y="2459355"/>
            <a:ext cx="5231130" cy="6465570"/>
            <a:chOff x="0" y="0"/>
            <a:chExt cx="6974840" cy="8620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74840" cy="8620761"/>
            </a:xfrm>
            <a:custGeom>
              <a:avLst/>
              <a:gdLst/>
              <a:ahLst/>
              <a:cxnLst/>
              <a:rect r="r" b="b" t="t" l="l"/>
              <a:pathLst>
                <a:path h="8620761" w="6974840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6754622" y="0"/>
                  </a:lnTo>
                  <a:cubicBezTo>
                    <a:pt x="6876288" y="0"/>
                    <a:pt x="6974840" y="98679"/>
                    <a:pt x="6974840" y="220218"/>
                  </a:cubicBezTo>
                  <a:lnTo>
                    <a:pt x="6974840" y="8400542"/>
                  </a:lnTo>
                  <a:cubicBezTo>
                    <a:pt x="6974840" y="8522208"/>
                    <a:pt x="6876161" y="8620761"/>
                    <a:pt x="6754622" y="8620761"/>
                  </a:cubicBezTo>
                  <a:lnTo>
                    <a:pt x="220218" y="8620761"/>
                  </a:lnTo>
                  <a:cubicBezTo>
                    <a:pt x="98679" y="8620760"/>
                    <a:pt x="0" y="8522081"/>
                    <a:pt x="0" y="8400542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472035" y="2802255"/>
            <a:ext cx="1322070" cy="1322070"/>
            <a:chOff x="0" y="0"/>
            <a:chExt cx="1762760" cy="1762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6276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762760">
                  <a:moveTo>
                    <a:pt x="0" y="881380"/>
                  </a:moveTo>
                  <a:cubicBezTo>
                    <a:pt x="0" y="394589"/>
                    <a:pt x="394589" y="0"/>
                    <a:pt x="881380" y="0"/>
                  </a:cubicBezTo>
                  <a:cubicBezTo>
                    <a:pt x="1368171" y="0"/>
                    <a:pt x="1762760" y="394589"/>
                    <a:pt x="1762760" y="881380"/>
                  </a:cubicBezTo>
                  <a:cubicBezTo>
                    <a:pt x="1762760" y="1368171"/>
                    <a:pt x="1368171" y="1762760"/>
                    <a:pt x="881380" y="1762760"/>
                  </a:cubicBezTo>
                  <a:cubicBezTo>
                    <a:pt x="394589" y="1762760"/>
                    <a:pt x="0" y="1368171"/>
                    <a:pt x="0" y="881380"/>
                  </a:cubicBezTo>
                  <a:close/>
                </a:path>
              </a:pathLst>
            </a:custGeom>
            <a:solidFill>
              <a:srgbClr val="4F6996"/>
            </a:solidFill>
            <a:ln w="19050" cap="sq">
              <a:solidFill>
                <a:srgbClr val="2A9D8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768224" y="3098444"/>
            <a:ext cx="729691" cy="729691"/>
            <a:chOff x="0" y="0"/>
            <a:chExt cx="972922" cy="972922"/>
          </a:xfrm>
        </p:grpSpPr>
        <p:sp>
          <p:nvSpPr>
            <p:cNvPr name="Freeform 30" id="30" descr="ícone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058900" y="3017520"/>
            <a:ext cx="3017520" cy="891540"/>
            <a:chOff x="0" y="0"/>
            <a:chExt cx="4023360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02336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Para parceiros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550140" y="4469130"/>
            <a:ext cx="4389120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Impacto social visível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Campanhas patrocinadas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 local qualificado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Convênios anuais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28700" y="8924925"/>
            <a:ext cx="15636240" cy="480060"/>
            <a:chOff x="0" y="0"/>
            <a:chExt cx="2084832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Fonte: modelo de negócio e precificação (Atividade IX). Benefício para a clínica depende de contribuição incremental a validar com parceiros.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51" t="-161160" r="0" b="-1255012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7299" y="-500596"/>
            <a:ext cx="16596360" cy="3960502"/>
            <a:chOff x="0" y="0"/>
            <a:chExt cx="22128480" cy="5280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5280670"/>
            </a:xfrm>
            <a:custGeom>
              <a:avLst/>
              <a:gdLst/>
              <a:ahLst/>
              <a:cxnLst/>
              <a:rect r="r" b="b" t="t" l="l"/>
              <a:pathLst>
                <a:path h="52806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280670"/>
                  </a:lnTo>
                  <a:lnTo>
                    <a:pt x="0" y="52806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603" r="0" b="-69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5290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Núcleo gratuito: receita de quatro fontes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87957" y="1024509"/>
            <a:ext cx="10863072" cy="894283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0140315" y="2390775"/>
            <a:ext cx="7288530" cy="1459230"/>
            <a:chOff x="0" y="0"/>
            <a:chExt cx="9718040" cy="1945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18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97180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9495663" y="0"/>
                  </a:lnTo>
                  <a:cubicBezTo>
                    <a:pt x="9618472" y="0"/>
                    <a:pt x="9718040" y="99568"/>
                    <a:pt x="9718040" y="222377"/>
                  </a:cubicBezTo>
                  <a:lnTo>
                    <a:pt x="9718040" y="1723263"/>
                  </a:lnTo>
                  <a:cubicBezTo>
                    <a:pt x="9718040" y="1846072"/>
                    <a:pt x="9618472" y="1945640"/>
                    <a:pt x="949566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424160" y="2400300"/>
            <a:ext cx="3291840" cy="1440180"/>
            <a:chOff x="0" y="0"/>
            <a:chExt cx="438912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38912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2A9D8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Grátis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16000" y="2400300"/>
            <a:ext cx="3566160" cy="1440180"/>
            <a:chOff x="0" y="0"/>
            <a:chExt cx="4754880" cy="1920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7548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Tutor: cadastro, lembretes, triagem, créditos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40315" y="4036695"/>
            <a:ext cx="7288530" cy="1459230"/>
            <a:chOff x="0" y="0"/>
            <a:chExt cx="9718040" cy="1945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18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97180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9495663" y="0"/>
                  </a:lnTo>
                  <a:cubicBezTo>
                    <a:pt x="9618472" y="0"/>
                    <a:pt x="9718040" y="99568"/>
                    <a:pt x="9718040" y="222377"/>
                  </a:cubicBezTo>
                  <a:lnTo>
                    <a:pt x="9718040" y="1723263"/>
                  </a:lnTo>
                  <a:cubicBezTo>
                    <a:pt x="9718040" y="1846072"/>
                    <a:pt x="9618472" y="1945640"/>
                    <a:pt x="949566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424160" y="4046220"/>
            <a:ext cx="3291840" cy="1440180"/>
            <a:chOff x="0" y="0"/>
            <a:chExt cx="4389120" cy="1920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38912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R$ 12,90/mês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0" y="4046220"/>
            <a:ext cx="3566160" cy="1440180"/>
            <a:chOff x="0" y="0"/>
            <a:chExt cx="4754880" cy="1920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7548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PetCuida+ (ou R$ 119/ano)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40315" y="5682615"/>
            <a:ext cx="7288530" cy="1459230"/>
            <a:chOff x="0" y="0"/>
            <a:chExt cx="9718040" cy="1945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18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97180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9495663" y="0"/>
                  </a:lnTo>
                  <a:cubicBezTo>
                    <a:pt x="9618472" y="0"/>
                    <a:pt x="9718040" y="99568"/>
                    <a:pt x="9718040" y="222377"/>
                  </a:cubicBezTo>
                  <a:lnTo>
                    <a:pt x="9718040" y="1723263"/>
                  </a:lnTo>
                  <a:cubicBezTo>
                    <a:pt x="9718040" y="1846072"/>
                    <a:pt x="9618472" y="1945640"/>
                    <a:pt x="949566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424160" y="5692140"/>
            <a:ext cx="3291840" cy="1440180"/>
            <a:chOff x="0" y="0"/>
            <a:chExt cx="4389120" cy="1920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38912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0" y="5692140"/>
            <a:ext cx="3566160" cy="1440180"/>
            <a:chOff x="0" y="0"/>
            <a:chExt cx="4754880" cy="1920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7548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Comissão sobre a parte paga em dinheiro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40315" y="7328535"/>
            <a:ext cx="7288530" cy="1459230"/>
            <a:chOff x="0" y="0"/>
            <a:chExt cx="9718040" cy="1945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18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97180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9495663" y="0"/>
                  </a:lnTo>
                  <a:cubicBezTo>
                    <a:pt x="9618472" y="0"/>
                    <a:pt x="9718040" y="99568"/>
                    <a:pt x="9718040" y="222377"/>
                  </a:cubicBezTo>
                  <a:lnTo>
                    <a:pt x="9718040" y="1723263"/>
                  </a:lnTo>
                  <a:cubicBezTo>
                    <a:pt x="9718040" y="1846072"/>
                    <a:pt x="9618472" y="1945640"/>
                    <a:pt x="949566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424160" y="7338060"/>
            <a:ext cx="3291840" cy="1440180"/>
            <a:chOff x="0" y="0"/>
            <a:chExt cx="438912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438912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R$ 79,90/mês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6000" y="7338060"/>
            <a:ext cx="3566160" cy="1440180"/>
            <a:chOff x="0" y="0"/>
            <a:chExt cx="4754880" cy="192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7548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Plano Parceiro para clínicas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2220" y="8997315"/>
            <a:ext cx="15636240" cy="480060"/>
            <a:chOff x="0" y="0"/>
            <a:chExt cx="2084832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Estimativa do grupo (Atividade IX): 1.500 usuários ativos, 10 clínicas; R$ 1.500 de convênios ainda não contratados.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51" t="-161160" r="0" b="-1255012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950595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Não é plano de saúde, nem só uma agenda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2468880"/>
          <a:ext cx="16573500" cy="5143500"/>
        </p:xfrm>
        <a:graphic>
          <a:graphicData uri="http://schemas.openxmlformats.org/drawingml/2006/table">
            <a:tbl>
              <a:tblPr/>
              <a:tblGrid>
                <a:gridCol w="5873866"/>
                <a:gridCol w="3566545"/>
                <a:gridCol w="3566545"/>
                <a:gridCol w="3566545"/>
              </a:tblGrid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Plano de saúde pet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App de registro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PetCuida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5B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B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Cobre procedimentos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A9D8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26B5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6B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B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Núcleo gratuito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26B5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B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Parcial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A9D8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B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Preço social e créditos solidários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26B5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26B5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A9D8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B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Rede de clínicas parceiras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A9D8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26B5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A9D8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13435" y="7602855"/>
            <a:ext cx="16615410" cy="1459230"/>
            <a:chOff x="0" y="0"/>
            <a:chExt cx="22153880" cy="1945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5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2215388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21931503" y="0"/>
                  </a:lnTo>
                  <a:cubicBezTo>
                    <a:pt x="22054313" y="0"/>
                    <a:pt x="22153880" y="99568"/>
                    <a:pt x="22153880" y="222377"/>
                  </a:cubicBezTo>
                  <a:lnTo>
                    <a:pt x="22153880" y="1723263"/>
                  </a:lnTo>
                  <a:cubicBezTo>
                    <a:pt x="22153880" y="1846072"/>
                    <a:pt x="22054313" y="1945640"/>
                    <a:pt x="2193150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7612380"/>
            <a:ext cx="15773400" cy="1440180"/>
            <a:chOff x="0" y="0"/>
            <a:chExt cx="2103120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07" r="0" b="-1634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0312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4C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Posicionamento: prevenir, orientar e encaminhar, com preço social, para quem não contrata plano de mensalidade mais alta.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0100" y="9052560"/>
            <a:ext cx="15636240" cy="480060"/>
            <a:chOff x="0" y="0"/>
            <a:chExt cx="2084832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Comparação por categoria de oferta (Atividade IX). Preços de concorrentes: indicativos, consultados em 05/10/2026, a confirmar.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51" t="-161160" r="0" b="-125501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5820" y="882015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Tração: protótipo testado, negócio em validação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390775"/>
            <a:ext cx="5231130" cy="3585210"/>
            <a:chOff x="0" y="0"/>
            <a:chExt cx="6974840" cy="4780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4840" cy="4780280"/>
            </a:xfrm>
            <a:custGeom>
              <a:avLst/>
              <a:gdLst/>
              <a:ahLst/>
              <a:cxnLst/>
              <a:rect r="r" b="b" t="t" l="l"/>
              <a:pathLst>
                <a:path h="4780280" w="697484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754241" y="0"/>
                  </a:lnTo>
                  <a:cubicBezTo>
                    <a:pt x="6876035" y="0"/>
                    <a:pt x="6974840" y="98806"/>
                    <a:pt x="6974840" y="220599"/>
                  </a:cubicBezTo>
                  <a:lnTo>
                    <a:pt x="6974840" y="4559681"/>
                  </a:lnTo>
                  <a:cubicBezTo>
                    <a:pt x="6974840" y="4681474"/>
                    <a:pt x="6876035" y="4780280"/>
                    <a:pt x="6754241" y="4780280"/>
                  </a:cubicBezTo>
                  <a:lnTo>
                    <a:pt x="220599" y="4780280"/>
                  </a:lnTo>
                  <a:cubicBezTo>
                    <a:pt x="98806" y="4780280"/>
                    <a:pt x="0" y="4681474"/>
                    <a:pt x="0" y="4559681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537460"/>
            <a:ext cx="4389120" cy="1783080"/>
            <a:chOff x="0" y="0"/>
            <a:chExt cx="5852160" cy="2377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85216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34440" y="4282440"/>
            <a:ext cx="438912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sessões de teste guiado com perfis diferentes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36995" y="2390775"/>
            <a:ext cx="5231130" cy="3585210"/>
            <a:chOff x="0" y="0"/>
            <a:chExt cx="6974840" cy="4780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74840" cy="4780280"/>
            </a:xfrm>
            <a:custGeom>
              <a:avLst/>
              <a:gdLst/>
              <a:ahLst/>
              <a:cxnLst/>
              <a:rect r="r" b="b" t="t" l="l"/>
              <a:pathLst>
                <a:path h="4780280" w="697484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754241" y="0"/>
                  </a:lnTo>
                  <a:cubicBezTo>
                    <a:pt x="6876035" y="0"/>
                    <a:pt x="6974840" y="98806"/>
                    <a:pt x="6974840" y="220599"/>
                  </a:cubicBezTo>
                  <a:lnTo>
                    <a:pt x="6974840" y="4559681"/>
                  </a:lnTo>
                  <a:cubicBezTo>
                    <a:pt x="6974840" y="4681474"/>
                    <a:pt x="6876035" y="4780280"/>
                    <a:pt x="6754241" y="4780280"/>
                  </a:cubicBezTo>
                  <a:lnTo>
                    <a:pt x="220599" y="4780280"/>
                  </a:lnTo>
                  <a:cubicBezTo>
                    <a:pt x="98806" y="4780280"/>
                    <a:pt x="0" y="4681474"/>
                    <a:pt x="0" y="4559681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858000" y="2537460"/>
            <a:ext cx="4389120" cy="1783080"/>
            <a:chOff x="0" y="0"/>
            <a:chExt cx="585216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85216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2A9D8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58000" y="4282440"/>
            <a:ext cx="438912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testáveis: app Android e versão web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60555" y="2390775"/>
            <a:ext cx="5231130" cy="3585210"/>
            <a:chOff x="0" y="0"/>
            <a:chExt cx="6974840" cy="4780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4840" cy="4780280"/>
            </a:xfrm>
            <a:custGeom>
              <a:avLst/>
              <a:gdLst/>
              <a:ahLst/>
              <a:cxnLst/>
              <a:rect r="r" b="b" t="t" l="l"/>
              <a:pathLst>
                <a:path h="4780280" w="697484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754241" y="0"/>
                  </a:lnTo>
                  <a:cubicBezTo>
                    <a:pt x="6876035" y="0"/>
                    <a:pt x="6974840" y="98806"/>
                    <a:pt x="6974840" y="220599"/>
                  </a:cubicBezTo>
                  <a:lnTo>
                    <a:pt x="6974840" y="4559681"/>
                  </a:lnTo>
                  <a:cubicBezTo>
                    <a:pt x="6974840" y="4681474"/>
                    <a:pt x="6876035" y="4780280"/>
                    <a:pt x="6754241" y="4780280"/>
                  </a:cubicBezTo>
                  <a:lnTo>
                    <a:pt x="220599" y="4780280"/>
                  </a:lnTo>
                  <a:cubicBezTo>
                    <a:pt x="98806" y="4780280"/>
                    <a:pt x="0" y="4681474"/>
                    <a:pt x="0" y="4559681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81560" y="2537460"/>
            <a:ext cx="4389120" cy="1783080"/>
            <a:chOff x="0" y="0"/>
            <a:chExt cx="5852160" cy="2377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85216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26465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481560" y="4282440"/>
            <a:ext cx="438912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frentes com responsável e substituto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6368415"/>
            <a:ext cx="16615410" cy="2693670"/>
            <a:chOff x="0" y="0"/>
            <a:chExt cx="22153880" cy="3591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53880" cy="3591560"/>
            </a:xfrm>
            <a:custGeom>
              <a:avLst/>
              <a:gdLst/>
              <a:ahLst/>
              <a:cxnLst/>
              <a:rect r="r" b="b" t="t" l="l"/>
              <a:pathLst>
                <a:path h="3591560" w="2215388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21932900" y="0"/>
                  </a:lnTo>
                  <a:cubicBezTo>
                    <a:pt x="22054947" y="0"/>
                    <a:pt x="22153880" y="98933"/>
                    <a:pt x="22153880" y="220980"/>
                  </a:cubicBezTo>
                  <a:lnTo>
                    <a:pt x="22153880" y="3370580"/>
                  </a:lnTo>
                  <a:cubicBezTo>
                    <a:pt x="22153880" y="3492627"/>
                    <a:pt x="22054947" y="3591560"/>
                    <a:pt x="21932900" y="3591560"/>
                  </a:cubicBezTo>
                  <a:lnTo>
                    <a:pt x="220980" y="3591560"/>
                  </a:lnTo>
                  <a:cubicBezTo>
                    <a:pt x="98933" y="3591560"/>
                    <a:pt x="0" y="3492627"/>
                    <a:pt x="0" y="3370580"/>
                  </a:cubicBezTo>
                  <a:close/>
                </a:path>
              </a:pathLst>
            </a:custGeom>
            <a:solidFill>
              <a:srgbClr val="0F4C5C"/>
            </a:solidFill>
            <a:ln w="19050" cap="sq">
              <a:solidFill>
                <a:srgbClr val="0F4C5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03020" y="6515100"/>
            <a:ext cx="9601200" cy="617220"/>
            <a:chOff x="0" y="0"/>
            <a:chExt cx="1280160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80160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AB6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Projeção do grupo para o mês 12 (hipótese)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3020" y="7132320"/>
            <a:ext cx="15636240" cy="1234440"/>
            <a:chOff x="0" y="0"/>
            <a:chExt cx="2084832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848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0848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1.500 </a:t>
              </a: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usuários   </a:t>
              </a:r>
              <a:r>
                <a:rPr lang="en-US" sz="27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</a:t>
              </a: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clínicas   </a:t>
              </a:r>
              <a:r>
                <a:rPr lang="en-US" sz="27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R$ 756 </a:t>
              </a: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mês, só com convênio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3020" y="8366760"/>
            <a:ext cx="15636240" cy="548640"/>
            <a:chOff x="0" y="0"/>
            <a:chExt cx="208483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0848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Hoje: fase de validação, sem receita e sem usuários pagantes.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435" y="9166860"/>
            <a:ext cx="15636240" cy="480060"/>
            <a:chOff x="0" y="0"/>
            <a:chExt cx="2084832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Fontes: relatório de testes de usabilidade (Atividade VI); custos e precificação (Atividade IX); estrutura organizacional (Atividade XI).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51" t="-161160" r="0" b="-1255012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5820" y="819150"/>
            <a:ext cx="16596360" cy="1508760"/>
            <a:chOff x="0" y="0"/>
            <a:chExt cx="221284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Próximos passos: piloto em Belo Horizonte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13200">
            <a:off x="1754448" y="3208972"/>
            <a:ext cx="14870544" cy="0"/>
          </a:xfrm>
          <a:prstGeom prst="line">
            <a:avLst/>
          </a:prstGeom>
          <a:ln cap="rnd" w="28575">
            <a:solidFill>
              <a:srgbClr val="8AB6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842135" y="2527935"/>
            <a:ext cx="1390650" cy="1390650"/>
            <a:chOff x="0" y="0"/>
            <a:chExt cx="1854200" cy="185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F26B5B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153412" y="2839212"/>
            <a:ext cx="768096" cy="768096"/>
            <a:chOff x="0" y="0"/>
            <a:chExt cx="1024128" cy="1024128"/>
          </a:xfrm>
        </p:grpSpPr>
        <p:sp>
          <p:nvSpPr>
            <p:cNvPr name="Freeform 9" id="9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4183380"/>
            <a:ext cx="3429000" cy="685800"/>
            <a:chOff x="0" y="0"/>
            <a:chExt cx="45720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5720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Meses 0–3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5065395"/>
            <a:ext cx="3996690" cy="3585210"/>
            <a:chOff x="0" y="0"/>
            <a:chExt cx="5328920" cy="4780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28920" cy="4780280"/>
            </a:xfrm>
            <a:custGeom>
              <a:avLst/>
              <a:gdLst/>
              <a:ahLst/>
              <a:cxnLst/>
              <a:rect r="r" b="b" t="t" l="l"/>
              <a:pathLst>
                <a:path h="4780280" w="532892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108321" y="0"/>
                  </a:lnTo>
                  <a:cubicBezTo>
                    <a:pt x="5230114" y="0"/>
                    <a:pt x="5328920" y="98806"/>
                    <a:pt x="5328920" y="220599"/>
                  </a:cubicBezTo>
                  <a:lnTo>
                    <a:pt x="5328920" y="4559681"/>
                  </a:lnTo>
                  <a:cubicBezTo>
                    <a:pt x="5328920" y="4681474"/>
                    <a:pt x="5230114" y="4780280"/>
                    <a:pt x="5108321" y="4780280"/>
                  </a:cubicBezTo>
                  <a:lnTo>
                    <a:pt x="220599" y="4780280"/>
                  </a:lnTo>
                  <a:cubicBezTo>
                    <a:pt x="98806" y="4780280"/>
                    <a:pt x="0" y="4681474"/>
                    <a:pt x="0" y="4559681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97280" y="5242560"/>
            <a:ext cx="3497580" cy="36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e LGPD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Teste de preço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Formalizar a empresa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3 clínicas · 300 usuários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94095" y="2527935"/>
            <a:ext cx="1390650" cy="1390650"/>
            <a:chOff x="0" y="0"/>
            <a:chExt cx="1854200" cy="1854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2A9D8F"/>
            </a:solidFill>
            <a:ln w="19050" cap="sq">
              <a:solidFill>
                <a:srgbClr val="2A9D8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5372" y="2839212"/>
            <a:ext cx="768096" cy="768096"/>
            <a:chOff x="0" y="0"/>
            <a:chExt cx="1024128" cy="1024128"/>
          </a:xfrm>
        </p:grpSpPr>
        <p:sp>
          <p:nvSpPr>
            <p:cNvPr name="Freeform 19" id="19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074920" y="4183380"/>
            <a:ext cx="3429000" cy="685800"/>
            <a:chOff x="0" y="0"/>
            <a:chExt cx="45720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5720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Meses 4–6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65395" y="5065395"/>
            <a:ext cx="3996690" cy="3585210"/>
            <a:chOff x="0" y="0"/>
            <a:chExt cx="5328920" cy="4780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28920" cy="4780280"/>
            </a:xfrm>
            <a:custGeom>
              <a:avLst/>
              <a:gdLst/>
              <a:ahLst/>
              <a:cxnLst/>
              <a:rect r="r" b="b" t="t" l="l"/>
              <a:pathLst>
                <a:path h="4780280" w="532892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108321" y="0"/>
                  </a:lnTo>
                  <a:cubicBezTo>
                    <a:pt x="5230114" y="0"/>
                    <a:pt x="5328920" y="98806"/>
                    <a:pt x="5328920" y="220599"/>
                  </a:cubicBezTo>
                  <a:lnTo>
                    <a:pt x="5328920" y="4559681"/>
                  </a:lnTo>
                  <a:cubicBezTo>
                    <a:pt x="5328920" y="4681474"/>
                    <a:pt x="5230114" y="4780280"/>
                    <a:pt x="5108321" y="4780280"/>
                  </a:cubicBezTo>
                  <a:lnTo>
                    <a:pt x="220599" y="4780280"/>
                  </a:lnTo>
                  <a:cubicBezTo>
                    <a:pt x="98806" y="4780280"/>
                    <a:pt x="0" y="4681474"/>
                    <a:pt x="0" y="4559681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5349240" y="5242560"/>
            <a:ext cx="3497580" cy="36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Medir CAC e retenção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6 clínicas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800 usuários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346055" y="2527935"/>
            <a:ext cx="1390650" cy="1390650"/>
            <a:chOff x="0" y="0"/>
            <a:chExt cx="1854200" cy="1854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4F6996"/>
            </a:solidFill>
            <a:ln w="19050" cap="sq">
              <a:solidFill>
                <a:srgbClr val="0F4C5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657332" y="2839212"/>
            <a:ext cx="768096" cy="768096"/>
            <a:chOff x="0" y="0"/>
            <a:chExt cx="1024128" cy="1024128"/>
          </a:xfrm>
        </p:grpSpPr>
        <p:sp>
          <p:nvSpPr>
            <p:cNvPr name="Freeform 29" id="29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4183380"/>
            <a:ext cx="3429000" cy="685800"/>
            <a:chOff x="0" y="0"/>
            <a:chExt cx="45720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5720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Meses 7–12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17355" y="5065395"/>
            <a:ext cx="3996690" cy="3585210"/>
            <a:chOff x="0" y="0"/>
            <a:chExt cx="5328920" cy="4780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28920" cy="4780280"/>
            </a:xfrm>
            <a:custGeom>
              <a:avLst/>
              <a:gdLst/>
              <a:ahLst/>
              <a:cxnLst/>
              <a:rect r="r" b="b" t="t" l="l"/>
              <a:pathLst>
                <a:path h="4780280" w="532892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108321" y="0"/>
                  </a:lnTo>
                  <a:cubicBezTo>
                    <a:pt x="5230114" y="0"/>
                    <a:pt x="5328920" y="98806"/>
                    <a:pt x="5328920" y="220599"/>
                  </a:cubicBezTo>
                  <a:lnTo>
                    <a:pt x="5328920" y="4559681"/>
                  </a:lnTo>
                  <a:cubicBezTo>
                    <a:pt x="5328920" y="4681474"/>
                    <a:pt x="5230114" y="4780280"/>
                    <a:pt x="5108321" y="4780280"/>
                  </a:cubicBezTo>
                  <a:lnTo>
                    <a:pt x="220599" y="4780280"/>
                  </a:lnTo>
                  <a:cubicBezTo>
                    <a:pt x="98806" y="4780280"/>
                    <a:pt x="0" y="4681474"/>
                    <a:pt x="0" y="4559681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601200" y="5242560"/>
            <a:ext cx="3497580" cy="36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10 clínicas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1.500 usuários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Primeiro convênio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598015" y="2527935"/>
            <a:ext cx="1390650" cy="1390650"/>
            <a:chOff x="0" y="0"/>
            <a:chExt cx="1854200" cy="1854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264653"/>
            </a:solidFill>
            <a:ln w="19050" cap="sq">
              <a:solidFill>
                <a:srgbClr val="26465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909292" y="2839212"/>
            <a:ext cx="768096" cy="768096"/>
            <a:chOff x="0" y="0"/>
            <a:chExt cx="1024128" cy="1024128"/>
          </a:xfrm>
        </p:grpSpPr>
        <p:sp>
          <p:nvSpPr>
            <p:cNvPr name="Freeform 39" id="39" descr="ícone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578840" y="4183380"/>
            <a:ext cx="3429000" cy="685800"/>
            <a:chOff x="0" y="0"/>
            <a:chExt cx="45720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5720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Meses 13–24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569315" y="5065395"/>
            <a:ext cx="3996690" cy="3585210"/>
            <a:chOff x="0" y="0"/>
            <a:chExt cx="5328920" cy="4780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28920" cy="4780280"/>
            </a:xfrm>
            <a:custGeom>
              <a:avLst/>
              <a:gdLst/>
              <a:ahLst/>
              <a:cxnLst/>
              <a:rect r="r" b="b" t="t" l="l"/>
              <a:pathLst>
                <a:path h="4780280" w="532892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108321" y="0"/>
                  </a:lnTo>
                  <a:cubicBezTo>
                    <a:pt x="5230114" y="0"/>
                    <a:pt x="5328920" y="98806"/>
                    <a:pt x="5328920" y="220599"/>
                  </a:cubicBezTo>
                  <a:lnTo>
                    <a:pt x="5328920" y="4559681"/>
                  </a:lnTo>
                  <a:cubicBezTo>
                    <a:pt x="5328920" y="4681474"/>
                    <a:pt x="5230114" y="4780280"/>
                    <a:pt x="5108321" y="4780280"/>
                  </a:cubicBezTo>
                  <a:lnTo>
                    <a:pt x="220599" y="4780280"/>
                  </a:lnTo>
                  <a:cubicBezTo>
                    <a:pt x="98806" y="4780280"/>
                    <a:pt x="0" y="4681474"/>
                    <a:pt x="0" y="4559681"/>
                  </a:cubicBezTo>
                  <a:close/>
                </a:path>
              </a:pathLst>
            </a:custGeom>
            <a:solidFill>
              <a:srgbClr val="EAF4F4"/>
            </a:solidFill>
            <a:ln w="19050" cap="sq">
              <a:solidFill>
                <a:srgbClr val="EAF4F4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3853160" y="5242560"/>
            <a:ext cx="3497580" cy="36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Nova praça, se os gatilhos forem atingidos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B30"/>
                </a:solidFill>
                <a:latin typeface="Calibri (MS)"/>
                <a:ea typeface="Calibri (MS)"/>
                <a:cs typeface="Calibri (MS)"/>
                <a:sym typeface="Calibri (MS)"/>
              </a:rPr>
              <a:t>Meta: 5.000 usuários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13435" y="8650605"/>
            <a:ext cx="15636240" cy="480060"/>
            <a:chOff x="0" y="0"/>
            <a:chExt cx="2084832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0848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F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Fonte: plano de crescimento e escalabilidade (Atividade XIII). Metas são hipóteses a recalibrar após o piloto.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F75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-91440" y="9528810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51" t="-161160" r="0" b="-1255012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-91440" y="-28501"/>
            <a:ext cx="18379440" cy="845746"/>
          </a:xfrm>
          <a:custGeom>
            <a:avLst/>
            <a:gdLst/>
            <a:ahLst/>
            <a:cxnLst/>
            <a:rect r="r" b="b" t="t" l="l"/>
            <a:pathLst>
              <a:path h="845746" w="18379440">
                <a:moveTo>
                  <a:pt x="0" y="0"/>
                </a:moveTo>
                <a:lnTo>
                  <a:pt x="18379440" y="0"/>
                </a:lnTo>
                <a:lnTo>
                  <a:pt x="18379440" y="845746"/>
                </a:lnTo>
                <a:lnTo>
                  <a:pt x="0" y="845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51" t="-161160" r="0" b="-1255012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51" t="-13183" r="0" b="-1084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5820" y="1028700"/>
            <a:ext cx="16596360" cy="1508760"/>
            <a:chOff x="0" y="0"/>
            <a:chExt cx="22128480" cy="20116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2128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0F4C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Quem executa, e o que buscamos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13435" y="2390775"/>
            <a:ext cx="4613910" cy="3105150"/>
            <a:chOff x="0" y="0"/>
            <a:chExt cx="6151880" cy="4140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51880" cy="4140200"/>
            </a:xfrm>
            <a:custGeom>
              <a:avLst/>
              <a:gdLst/>
              <a:ahLst/>
              <a:cxnLst/>
              <a:rect r="r" b="b" t="t" l="l"/>
              <a:pathLst>
                <a:path h="4140200" w="615188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5931027" y="0"/>
                  </a:lnTo>
                  <a:cubicBezTo>
                    <a:pt x="6052947" y="0"/>
                    <a:pt x="6151880" y="98806"/>
                    <a:pt x="6151880" y="220853"/>
                  </a:cubicBezTo>
                  <a:lnTo>
                    <a:pt x="6151880" y="3919347"/>
                  </a:lnTo>
                  <a:cubicBezTo>
                    <a:pt x="6151880" y="4041267"/>
                    <a:pt x="6053074" y="4140200"/>
                    <a:pt x="5931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6465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87755" y="2665095"/>
            <a:ext cx="1116330" cy="1116330"/>
            <a:chOff x="0" y="0"/>
            <a:chExt cx="1488440" cy="1488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A9D8F"/>
            </a:solidFill>
            <a:ln w="19050" cap="sq">
              <a:solidFill>
                <a:srgbClr val="2A9D8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38682" y="2916022"/>
            <a:ext cx="614477" cy="614477"/>
            <a:chOff x="0" y="0"/>
            <a:chExt cx="819302" cy="819302"/>
          </a:xfrm>
        </p:grpSpPr>
        <p:sp>
          <p:nvSpPr>
            <p:cNvPr name="Freeform 11" id="11" descr="ícone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7280" y="3714750"/>
            <a:ext cx="411480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Gabriel da Silva Cassino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280" y="4711827"/>
            <a:ext cx="411480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Direção técnica e arquitetura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682615" y="2390775"/>
            <a:ext cx="4613910" cy="3105150"/>
            <a:chOff x="0" y="0"/>
            <a:chExt cx="6151880" cy="4140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51880" cy="4140200"/>
            </a:xfrm>
            <a:custGeom>
              <a:avLst/>
              <a:gdLst/>
              <a:ahLst/>
              <a:cxnLst/>
              <a:rect r="r" b="b" t="t" l="l"/>
              <a:pathLst>
                <a:path h="4140200" w="615188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5931027" y="0"/>
                  </a:lnTo>
                  <a:cubicBezTo>
                    <a:pt x="6052947" y="0"/>
                    <a:pt x="6151880" y="98806"/>
                    <a:pt x="6151880" y="220853"/>
                  </a:cubicBezTo>
                  <a:lnTo>
                    <a:pt x="6151880" y="3919347"/>
                  </a:lnTo>
                  <a:cubicBezTo>
                    <a:pt x="6151880" y="4041267"/>
                    <a:pt x="6053074" y="4140200"/>
                    <a:pt x="5931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6465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956935" y="2665095"/>
            <a:ext cx="1116330" cy="1116330"/>
            <a:chOff x="0" y="0"/>
            <a:chExt cx="1488440" cy="1488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F26B5B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207862" y="2916022"/>
            <a:ext cx="614477" cy="614477"/>
            <a:chOff x="0" y="0"/>
            <a:chExt cx="819302" cy="819302"/>
          </a:xfrm>
        </p:grpSpPr>
        <p:sp>
          <p:nvSpPr>
            <p:cNvPr name="Freeform 19" id="19" descr="ícone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966460" y="3714750"/>
            <a:ext cx="411480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Giovanna Naves Ribeiro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66460" y="4711827"/>
            <a:ext cx="411480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Produto, projetos e operações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3435" y="5682615"/>
            <a:ext cx="4613910" cy="3105150"/>
            <a:chOff x="0" y="0"/>
            <a:chExt cx="6151880" cy="4140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51880" cy="4140200"/>
            </a:xfrm>
            <a:custGeom>
              <a:avLst/>
              <a:gdLst/>
              <a:ahLst/>
              <a:cxnLst/>
              <a:rect r="r" b="b" t="t" l="l"/>
              <a:pathLst>
                <a:path h="4140200" w="615188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5931027" y="0"/>
                  </a:lnTo>
                  <a:cubicBezTo>
                    <a:pt x="6052947" y="0"/>
                    <a:pt x="6151880" y="98806"/>
                    <a:pt x="6151880" y="220853"/>
                  </a:cubicBezTo>
                  <a:lnTo>
                    <a:pt x="6151880" y="3919347"/>
                  </a:lnTo>
                  <a:cubicBezTo>
                    <a:pt x="6151880" y="4041267"/>
                    <a:pt x="6053074" y="4140200"/>
                    <a:pt x="5931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6465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87755" y="5956935"/>
            <a:ext cx="1116330" cy="1116330"/>
            <a:chOff x="0" y="0"/>
            <a:chExt cx="1488440" cy="1488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F4A261"/>
            </a:solidFill>
            <a:ln w="1905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38682" y="6207862"/>
            <a:ext cx="614477" cy="614477"/>
            <a:chOff x="0" y="0"/>
            <a:chExt cx="819302" cy="819302"/>
          </a:xfrm>
        </p:grpSpPr>
        <p:sp>
          <p:nvSpPr>
            <p:cNvPr name="Freeform 27" id="27" descr="ícone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97280" y="7006590"/>
            <a:ext cx="411480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Júlia Rodrigues Vasconcellos Melo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7280" y="8003667"/>
            <a:ext cx="411480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Experiência do usuário e conformidade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82615" y="5682615"/>
            <a:ext cx="4613910" cy="3105150"/>
            <a:chOff x="0" y="0"/>
            <a:chExt cx="6151880" cy="4140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51880" cy="4140200"/>
            </a:xfrm>
            <a:custGeom>
              <a:avLst/>
              <a:gdLst/>
              <a:ahLst/>
              <a:cxnLst/>
              <a:rect r="r" b="b" t="t" l="l"/>
              <a:pathLst>
                <a:path h="4140200" w="615188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5931027" y="0"/>
                  </a:lnTo>
                  <a:cubicBezTo>
                    <a:pt x="6052947" y="0"/>
                    <a:pt x="6151880" y="98806"/>
                    <a:pt x="6151880" y="220853"/>
                  </a:cubicBezTo>
                  <a:lnTo>
                    <a:pt x="6151880" y="3919347"/>
                  </a:lnTo>
                  <a:cubicBezTo>
                    <a:pt x="6151880" y="4041267"/>
                    <a:pt x="6053074" y="4140200"/>
                    <a:pt x="5931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6465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956935" y="5956935"/>
            <a:ext cx="1116330" cy="1116330"/>
            <a:chOff x="0" y="0"/>
            <a:chExt cx="1488440" cy="1488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8AB6B8"/>
            </a:solidFill>
            <a:ln w="19050" cap="sq">
              <a:solidFill>
                <a:srgbClr val="8AB6B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207862" y="6207862"/>
            <a:ext cx="614477" cy="614477"/>
            <a:chOff x="0" y="0"/>
            <a:chExt cx="819302" cy="819302"/>
          </a:xfrm>
        </p:grpSpPr>
        <p:sp>
          <p:nvSpPr>
            <p:cNvPr name="Freeform 35" id="35" descr="ícone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966460" y="7006590"/>
            <a:ext cx="411480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Kathleen Rodrigues Leite Barbosa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66460" y="8003667"/>
            <a:ext cx="411480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Engenharia, qualidade e integração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826115" y="2390775"/>
            <a:ext cx="6602730" cy="6191250"/>
            <a:chOff x="0" y="0"/>
            <a:chExt cx="8803640" cy="8255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80364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80364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8583422" y="0"/>
                  </a:lnTo>
                  <a:cubicBezTo>
                    <a:pt x="8704961" y="0"/>
                    <a:pt x="8803640" y="98552"/>
                    <a:pt x="8803640" y="220218"/>
                  </a:cubicBezTo>
                  <a:lnTo>
                    <a:pt x="8803640" y="8034782"/>
                  </a:lnTo>
                  <a:cubicBezTo>
                    <a:pt x="8803640" y="8156321"/>
                    <a:pt x="8705088" y="8255000"/>
                    <a:pt x="8583422" y="8255000"/>
                  </a:cubicBezTo>
                  <a:lnTo>
                    <a:pt x="220218" y="8255000"/>
                  </a:lnTo>
                  <a:cubicBezTo>
                    <a:pt x="98552" y="8255000"/>
                    <a:pt x="0" y="8156448"/>
                    <a:pt x="0" y="8034782"/>
                  </a:cubicBezTo>
                  <a:close/>
                </a:path>
              </a:pathLst>
            </a:custGeom>
            <a:solidFill>
              <a:srgbClr val="F26B5B"/>
            </a:solidFill>
            <a:ln w="19050" cap="sq">
              <a:solidFill>
                <a:srgbClr val="F26B5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315700" y="2674620"/>
            <a:ext cx="5623560" cy="822960"/>
            <a:chOff x="0" y="0"/>
            <a:chExt cx="74980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9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4980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Buscamos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315700" y="3714750"/>
            <a:ext cx="5623560" cy="458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Clínicas parceiras para o piloto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ONGs e lideranças comunitárias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Convênios e patrocínio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Mentoria em saúde animal e negócios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2960" y="8915400"/>
            <a:ext cx="16596360" cy="685800"/>
            <a:chOff x="0" y="0"/>
            <a:chExt cx="2212848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21284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0F4C5C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Para que a Maria chegue antes da emergência.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96212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B6B8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DAHZT4jjbO8</dc:identifier>
  <dcterms:modified xsi:type="dcterms:W3CDTF">2011-08-01T06:04:30Z</dcterms:modified>
  <cp:revision>1</cp:revision>
  <dc:title>Gabriel da Silva Cassino Giovanna Naves Ribeiro Júlia Rodrigues Vasconcellos Melo Kathleen Rodrigues Leite Barbosa</dc:title>
</cp:coreProperties>
</file>